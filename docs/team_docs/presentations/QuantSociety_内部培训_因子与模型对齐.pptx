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60 秒】先报目的：不是 Code walkthrough，是让大家会后能「把人找对、把表填对、把事问到点子上」。</a:t>
            </a:r>
          </a:p>
          <a:p>
            <a:r>
              <a:t>停 1 秒：听的人里谁主因子/谁主模型/谁主数据，心里各选一个动作（最后 Q&amp;A 用）。</a:t>
            </a:r>
          </a:p>
          <a:p>
            <a:r>
              <a:t>过渡：先给今天三张片子就能跟完全程——议程。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【讲法】手比「三指」对应三块。说清：细节在文档，会上一致口径。</a:t>
            </a:r>
          </a:p>
          <a:p>
            <a:r>
              <a:t>若听众一半工程一半研究：加一句「论文细节会后」 即可压住跑题。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【重音】第二句常有人忘：引擎多≠安检少。</a:t>
            </a:r>
          </a:p>
          <a:p>
            <a:r>
              <a:t>第三句：有新人眼神飘——举一个「用未来行业」 例子停 2 秒，不展开公式。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【互动】可问半句：「我们上周最容易死在 G 的哪一条？」 不冷场就接 五安检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【手比】从左指到右。停到 G：强调「不替代」——引擎只是入口。</a:t>
            </a:r>
          </a:p>
          <a:p>
            <a:r>
              <a:t>停到 R：说清「可注册=元数据齐」。停到 D：点 03+02，不展开。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【常见反驳】若有人说「我们因子好了模型自然好」：用第三行「契约与 WFO 仍在 03」 回应。</a:t>
            </a:r>
          </a:p>
          <a:p>
            <a:r>
              <a:t>不展开「谁写 PR」——踢回 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【节奏】每行 15 秒。停 B：举例「动量都高 IC」 仍可边际差——衔接「要组合奖励」。</a:t>
            </a:r>
          </a:p>
          <a:p>
            <a:r>
              <a:t>停 C：强调「能跑」 不是「能入库」。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【不要逐条念定义】用「能验收」 三个字作节拍。</a:t>
            </a:r>
          </a:p>
          <a:p>
            <a:r>
              <a:t>若时间紧：只展开 1 与 3，其余说「见 04 篇四～五」。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【可跳过】时间不够整页 30 秒：只指左上角三格：假发现/摩擦/正交。</a:t>
            </a:r>
          </a:p>
          <a:p>
            <a:r>
              <a:t>用于研究同学「找自己的坑」 而不是管理汇报。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【桥接 03】念完立刻接下一页：「定类了再谈 篇八/八续」。</a:t>
            </a:r>
          </a:p>
          <a:p>
            <a:r>
              <a:t>有人提问「我们算哪种」：答「以试验说明第一行 为准，争议找负责人」。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【收束前高潮】三句 各读一遍 慢 半拍。</a:t>
            </a:r>
          </a:p>
          <a:p>
            <a:r>
              <a:t>可提问：「我们上周哪个因子 缺 PiT 字段？」 把会开到地上。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【防 overwhelm】说「三选一，不要全读」—— 降低沉默成本。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【结尾】不 Q&amp;A 也可三句 结束。需要气势：最后一句 提高半度音量「写进纪要」。</a:t>
            </a:r>
          </a:p>
          <a:p>
            <a:r>
              <a:t>若 CEO/顾问在场：不加班数据，不承诺未跑通的数字。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【Q&amp;A 引导】没问题时用「那我们从 PiT 字段开始 每人说一条」 破冰。</a:t>
            </a:r>
          </a:p>
          <a:p>
            <a:r>
              <a:t>收束问题类型：去 01/ 去 04/ 去 03/ 要负责人决策——四类分流。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003366"/>
                </a:solidFill>
                <a:latin typeface="Microsoft YaHei"/>
              </a:rPr>
              <a:t>因子 × 模型 × 数据：内部对齐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500"/>
              <a:t>QUANT society · 成员培训</a:t>
            </a:r>
          </a:p>
          <a:p>
            <a:r>
              <a:t>本 deck：讲清边界、闸门与对接 03 的一句话 · 不替代仓库长文 01/02/03/04</a:t>
            </a:r>
          </a:p>
        </p:txBody>
      </p:sp>
      <p:pic>
        <p:nvPicPr>
          <p:cNvPr id="4" name="Picture 3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>
                <a:solidFill>
                  <a:srgbClr val="5A626E"/>
                </a:solidFill>
                <a:latin typeface="Microsoft YaHei"/>
              </a:rPr>
              <a:t>时间不够：跳过「矩阵」与「A/B/C 小表」两张，收束三句 仍要讲。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003366"/>
                </a:solidFill>
                <a:latin typeface="Microsoft YaHei"/>
              </a:rPr>
              <a:t>今天 25 分钟怎么听（可压缩到 15）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005C8C"/>
                </a:solidFill>
                <a:latin typeface="Microsoft YaHei"/>
              </a:rPr>
              <a:t>给听众的抓手：你只需决定——会后打开 04 还是 03 的哪一篇。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1）边界：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数据 / 因子 / 模型 / 策略 各停在哪一段「可辩护」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2）闸门：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四引擎只是搜索偏置，多引擎合流进同一套五安检，再进注册与下游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3）对接 03：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先 A/B/C 与「一行是什么」，再谈损失与 WFO/八续；上游泄漏没有「后处理」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（可选加钟）看五安检×四引擎矩阵：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认格子，不背定义</a:t>
            </a:r>
          </a:p>
        </p:txBody>
      </p:sp>
      <p:pic>
        <p:nvPicPr>
          <p:cNvPr id="7" name="Picture 6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003366"/>
                </a:solidFill>
                <a:latin typeface="Microsoft YaHei"/>
              </a:rPr>
              <a:t>本组在比什么（一句，写在心头）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005C8C"/>
                </a:solidFill>
                <a:latin typeface="Microsoft YaHei"/>
              </a:rPr>
              <a:t>讲者自检：全 room 能复述「多引擎不减税」 即过关。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E2430"/>
                </a:solidFill>
                <a:latin typeface="Microsoft YaHei"/>
              </a:rPr>
              <a:t>比的不是「出多少条因子」，是「在统一闸门下，少漏 进脏信号」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E2430"/>
                </a:solidFill>
                <a:latin typeface="Microsoft YaHei"/>
              </a:rPr>
              <a:t>多引擎＝在搜索层叠不同偏置；「不」 等于少一道 统计与工程纪律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E2430"/>
                </a:solidFill>
                <a:latin typeface="Microsoft YaHei"/>
              </a:rPr>
              <a:t>模型组 03 的 OOS 故事，在因子带系统性标签/时间错误时 无 可靠前提——这点必须当场听懂</a:t>
            </a:r>
          </a:p>
        </p:txBody>
      </p:sp>
      <p:pic>
        <p:nvPicPr>
          <p:cNvPr id="7" name="Picture 6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>
                <a:solidFill>
                  <a:srgbClr val="5A626E"/>
                </a:solidFill>
                <a:latin typeface="Microsoft YaHei"/>
              </a:rPr>
              <a:t>新人若追问命令：答「在 篇 1.5 SOP 与合入说明」；不在这 room 里打开终端。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003366"/>
                </a:solidFill>
                <a:latin typeface="Microsoft YaHei"/>
              </a:rPr>
              <a:t>会上讲 / 会下自己啃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03366"/>
                </a:solidFill>
                <a:latin typeface="Microsoft YaHei"/>
              </a:rPr>
              <a:t>会上要带走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949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b="1" sz="1350">
                <a:solidFill>
                  <a:srgbClr val="003366"/>
                </a:solidFill>
                <a:latin typeface="Microsoft YaHei"/>
              </a:rPr>
              <a:t>可画出来的责任段：</a:t>
            </a:r>
            <a:r>
              <a:rPr sz="1350">
                <a:solidFill>
                  <a:srgbClr val="1E2430"/>
                </a:solidFill>
                <a:latin typeface="Microsoft YaHei"/>
              </a:rPr>
              <a:t>谁为 PiT/可得、谁为因子候选、谁为 WFO&amp;契约、谁为成本</a:t>
            </a:r>
          </a:p>
          <a:p>
            <a:pPr algn="l">
              <a:spcAft>
                <a:spcPts val="800"/>
              </a:spcAft>
            </a:pPr>
            <a:r>
              <a:rPr b="1" sz="1350">
                <a:solidFill>
                  <a:srgbClr val="003366"/>
                </a:solidFill>
                <a:latin typeface="Microsoft YaHei"/>
              </a:rPr>
              <a:t>可复述的链：</a:t>
            </a:r>
            <a:r>
              <a:rPr sz="1350">
                <a:solidFill>
                  <a:srgbClr val="1E2430"/>
                </a:solidFill>
                <a:latin typeface="Microsoft YaHei"/>
              </a:rPr>
              <a:t>多引擎 → P → G → R → D（能背五个字母顺序即可）</a:t>
            </a:r>
          </a:p>
          <a:p>
            <a:pPr algn="l">
              <a:spcAft>
                <a:spcPts val="800"/>
              </a:spcAft>
            </a:pPr>
            <a:r>
              <a:rPr b="1" sz="1350">
                <a:solidFill>
                  <a:srgbClr val="003366"/>
                </a:solidFill>
                <a:latin typeface="Microsoft YaHei"/>
              </a:rPr>
              <a:t>五安检名字 + 每类「一句验收」：</a:t>
            </a:r>
            <a:r>
              <a:rPr sz="1350">
                <a:solidFill>
                  <a:srgbClr val="1E2430"/>
                </a:solidFill>
                <a:latin typeface="Microsoft YaHei"/>
              </a:rPr>
              <a:t>会后对着 04/篇十四 打勾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86868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05C8C"/>
                </a:solidFill>
                <a:latin typeface="Microsoft YaHei"/>
              </a:rPr>
              <a:t>会上故意不讲（避免念稿）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188720"/>
            <a:ext cx="53949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>
                <a:solidFill>
                  <a:srgbClr val="1E2430"/>
                </a:solidFill>
                <a:latin typeface="Microsoft YaHei"/>
              </a:rPr>
              <a:t>具体路径/类名/YAML/命令行（放 01/02/03/04 + 合入说明）</a:t>
            </a:r>
          </a:p>
          <a:p>
            <a:pPr algn="l">
              <a:spcAft>
                <a:spcPts val="800"/>
              </a:spcAft>
            </a:pPr>
            <a:r>
              <a:rPr sz="1350">
                <a:solidFill>
                  <a:srgbClr val="1E2430"/>
                </a:solidFill>
                <a:latin typeface="Microsoft YaHei"/>
              </a:rPr>
              <a:t>未内审的公开展示夏普/IC 数字作论据</a:t>
            </a:r>
          </a:p>
          <a:p>
            <a:pPr algn="l">
              <a:spcAft>
                <a:spcPts val="800"/>
              </a:spcAft>
            </a:pPr>
            <a:r>
              <a:rPr sz="1350">
                <a:solidFill>
                  <a:srgbClr val="1E2430"/>
                </a:solidFill>
                <a:latin typeface="Microsoft YaHei"/>
              </a:rPr>
              <a:t>WFO/八续/MLflow 的数学细节（在 03 篇八+八续）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822960"/>
            <a:ext cx="18288" cy="4754880"/>
          </a:xfrm>
          <a:prstGeom prst="rect">
            <a:avLst/>
          </a:prstGeom>
          <a:solidFill>
            <a:srgbClr val="C8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003366"/>
                </a:solidFill>
                <a:latin typeface="Microsoft YaHei"/>
              </a:rPr>
              <a:t>一条链：从「多引擎」到「下游能消费」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26E"/>
                </a:solidFill>
                <a:latin typeface="Microsoft YaHei"/>
              </a:rPr>
              <a:t>（与 04 篇一 资产流 同构；会上一分钟走一遍，细节会后看文档。）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57400"/>
            <a:ext cx="17830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4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3366"/>
                </a:solidFill>
                <a:latin typeface="Microsoft YaHei"/>
              </a:rPr>
              <a:t>多引擎</a:t>
            </a:r>
          </a:p>
          <a:p>
            <a:r>
              <a:t>(A/B/C/D)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057400"/>
            <a:ext cx="17830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4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3366"/>
                </a:solidFill>
                <a:latin typeface="Microsoft YaHei"/>
              </a:rPr>
              <a:t>候选池 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057400"/>
            <a:ext cx="1783080" cy="77724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5875">
            <a:solidFill>
              <a:srgbClr val="004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3366"/>
                </a:solidFill>
                <a:latin typeface="Microsoft YaHei"/>
              </a:rPr>
              <a:t>五安检 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057400"/>
            <a:ext cx="1783080" cy="77724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5875">
            <a:solidFill>
              <a:srgbClr val="004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3366"/>
                </a:solidFill>
                <a:latin typeface="Microsoft YaHei"/>
              </a:rPr>
              <a:t>注册 R</a:t>
            </a:r>
          </a:p>
          <a:p>
            <a:r>
              <a:t>元数据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2057400"/>
            <a:ext cx="17830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4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3366"/>
                </a:solidFill>
                <a:latin typeface="Microsoft YaHei"/>
              </a:rPr>
              <a:t>下游 D</a:t>
            </a:r>
          </a:p>
          <a:p>
            <a:r>
              <a:t>03/02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240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3366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2240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3366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240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3366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19" y="2240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336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>
                <a:solidFill>
                  <a:srgbClr val="5A626E"/>
                </a:solidFill>
                <a:latin typeface="Microsoft YaHei"/>
              </a:rPr>
              <a:t>口播落点：四引擎 只增加发现率，不自动提高入库质量；G 是统一闸门。</a:t>
            </a:r>
          </a:p>
        </p:txBody>
      </p:sp>
      <p:pic>
        <p:nvPicPr>
          <p:cNvPr id="15" name="Picture 14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003366"/>
                </a:solidFill>
                <a:latin typeface="Microsoft YaHei"/>
              </a:rPr>
              <a:t>各段责任（与 01/02/03/04 对表，不讲路径）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01：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登记、发布、读数 一致；PiT/可得日 的 事实源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04 因子组：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候选+五安检+注册 材料；不背「帮模型把 OOS 拉好看」 的锅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03 模型组：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WFO+试次+信号契约 下训练/交付；吃池方式 写在 03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02/策略：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可交易、成本、从信号到仓位 的 主叙事 不在 03/04 包圆</a:t>
            </a:r>
          </a:p>
        </p:txBody>
      </p:sp>
      <p:pic>
        <p:nvPicPr>
          <p:cNvPr id="6" name="Picture 5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003366"/>
                </a:solidFill>
                <a:latin typeface="Microsoft YaHei"/>
              </a:rPr>
              <a:t>四引擎：你只需记住「偏置 + 最危险线」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2608" y="868680"/>
          <a:ext cx="115671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引擎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听会抓这句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最先爆的红线（点到为止）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latin typeface="Microsoft YaHei"/>
                        </a:rPr>
                        <a:t>A 符号/演化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文法里搜式子、复杂度罚+登记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膨胀/同质/唯 in-sample 好看</a:t>
                      </a:r>
                    </a:p>
                  </a:txBody>
                  <a:tcPr/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latin typeface="Microsoft YaHei"/>
                        </a:rPr>
                        <a:t>B 协同/序列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奖励看组合边际、防单 IC 自嗨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非稳/模式崩/隐式多试次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latin typeface="Microsoft YaHei"/>
                        </a:rPr>
                        <a:t>C LLM/Agent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话必须落到可执行式+可复现回测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默写/叙事幻觉/结构距过近</a:t>
                      </a:r>
                    </a:p>
                  </a:txBody>
                  <a:tcPr/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latin typeface="Microsoft YaHei"/>
                        </a:rPr>
                        <a:t>D 信息/拓扑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估计贵、先 研究档+成本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多窗/重算=隐性多重比较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>
                <a:solidFill>
                  <a:srgbClr val="5A626E"/>
                </a:solidFill>
                <a:latin typeface="Microsoft YaHei"/>
              </a:rPr>
              <a:t>讲法：只要求同事记住本表「第一列+第三列各一个词」。第二列会後自读 04 篇二 2.0.2。</a:t>
            </a:r>
          </a:p>
        </p:txBody>
      </p:sp>
      <p:pic>
        <p:nvPicPr>
          <p:cNvPr id="6" name="Picture 5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>
                <a:solidFill>
                  <a:srgbClr val="5A626E"/>
                </a:solidFill>
                <a:latin typeface="Microsoft YaHei"/>
              </a:rPr>
              <a:t>主持人可在此停 10 秒：问「我们当前最缺哪一条材料？」 记到会议纪要。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003366"/>
                </a:solidFill>
                <a:latin typeface="Microsoft YaHei"/>
              </a:rPr>
              <a:t>五安检：会后能对着清单打勾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1 假发现/复杂度：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禁「唯 in-sample」；登记、锁箱、试次/窗长 有上限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2 摩擦：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看 净；高换手纸面 不算交付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3 正交/增量：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对 核心库 的 边际/残差；禁红海 凑数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4 体制/尾部：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压测+半衰/拥挤 至少能写 一句 处置或标签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5 白盒/量纲：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经济意义+量纲/语法 在登记里 可指</a:t>
            </a:r>
          </a:p>
        </p:txBody>
      </p:sp>
      <p:pic>
        <p:nvPicPr>
          <p:cNvPr id="6" name="Picture 5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003366"/>
                </a:solidFill>
                <a:latin typeface="Microsoft YaHei"/>
              </a:rPr>
              <a:t>五安检 × 四引擎：一眼看「哪格最容易着」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26E"/>
                </a:solidFill>
                <a:latin typeface="Microsoft YaHei"/>
              </a:rPr>
              <a:t>格内是「最先要问的那一句」 不是完整定义；全表见 04 执行摘要 矩阵。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2608" y="1097280"/>
          <a:ext cx="11567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64008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3C50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A 演化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B RL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 LLM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D 信息/拓扑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latin typeface="Microsoft YaHei"/>
                        </a:rPr>
                        <a:t>安检1 假发现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膨胀/试次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隐式多试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默写/幻觉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多窗 p-hack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latin typeface="Microsoft YaHei"/>
                        </a:rPr>
                        <a:t>安检2 摩擦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高换手式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Δ 奖→频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未估换手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算力/评估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latin typeface="Microsoft YaHei"/>
                        </a:rPr>
                        <a:t>安检3 正交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同质化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模式崩溃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同构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被特征绑架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latin typeface="Microsoft YaHei"/>
                        </a:rPr>
                        <a:t>安检4 体制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单窗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非稳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外推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薄窗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latin typeface="Microsoft YaHei"/>
                        </a:rPr>
                        <a:t>安检5 白盒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量纲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黑箱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对不上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Microsoft YaHei"/>
                        </a:rPr>
                        <a:t>难翻译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>
                <a:solidFill>
                  <a:srgbClr val="5A626E"/>
                </a:solidFill>
                <a:latin typeface="Microsoft YaHei"/>
              </a:rPr>
              <a:t>口播 30 秒：我们不是在找「能写多炫」，是在找「哪格红线最先亮」。</a:t>
            </a:r>
          </a:p>
        </p:txBody>
      </p:sp>
      <p:pic>
        <p:nvPicPr>
          <p:cNvPr id="7" name="Picture 6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003366"/>
                </a:solidFill>
                <a:latin typeface="Microsoft YaHei"/>
              </a:rPr>
              <a:t>先定「一行数据是什么」（03 篇三；会上只记三格）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2608" y="868680"/>
          <a:ext cx="115671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行/张量 怎么说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和今天的关系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latin typeface="Microsoft YaHei"/>
                        </a:rPr>
                        <a:t>A 截面/日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日×票 矩阵；多排序/分组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因子多引擎 多数先落 A 的评估口径</a:t>
                      </a:r>
                    </a:p>
                  </a:txBody>
                  <a:tcPr/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latin typeface="Microsoft YaHei"/>
                        </a:rPr>
                        <a:t>B 时序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票×时间步 序列；沿时间 为主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损失与 WFO 不能按 A 的口播 偷换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latin typeface="Microsoft YaHei"/>
                        </a:rPr>
                        <a:t>C 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两阶写清：各自损失/窗/验证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Microsoft YaHei"/>
                        </a:rPr>
                        <a:t>禁止口头「混合」 而无结构图 或表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>
                <a:solidFill>
                  <a:srgbClr val="5A626E"/>
                </a:solidFill>
                <a:latin typeface="Microsoft YaHei"/>
              </a:rPr>
              <a:t>讲法：只要求同事记住本表「第一列+第三列各一个词」。第二列会後自读 04 篇二 2.0.2。</a:t>
            </a:r>
          </a:p>
        </p:txBody>
      </p:sp>
      <p:pic>
        <p:nvPicPr>
          <p:cNvPr id="6" name="Picture 5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003366"/>
                </a:solidFill>
                <a:latin typeface="Microsoft YaHei"/>
              </a:rPr>
              <a:t>对接模型组：三句，展开都在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005C8C"/>
                </a:solidFill>
                <a:latin typeface="Microsoft YaHei"/>
              </a:rPr>
              <a:t>与工程对齐：开 issue 时贴「A/B/C + 行定义」 在描述首行。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一句顺序：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先 定 A/B/C 与「行定义」→再 定损失 与 篇八 WFO/八续 主叙事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一句硬边界：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因子 信息集/标签/宇宙 的 系统性 错误 = 下游 没有 可辩护 OOS 前提，不是多训能救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一句交付物：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过闸 的 可注册 因子 + 元数据；不是裸 series</a:t>
            </a:r>
          </a:p>
        </p:txBody>
      </p:sp>
      <p:pic>
        <p:nvPicPr>
          <p:cNvPr id="7" name="Picture 6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>
                <a:solidFill>
                  <a:srgbClr val="5A626E"/>
                </a:solidFill>
                <a:latin typeface="Microsoft YaHei"/>
              </a:rPr>
              <a:t>发材料：Slack/邮件 附本 deck + 两白皮书文件名；不要附整仓 zip。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003366"/>
                </a:solidFill>
                <a:latin typeface="Microsoft YaHei"/>
              </a:rPr>
              <a:t>会后自读（只选一条最深就行）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走因子/挖掘：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04 卷 A → 篇二 2.0.1/2.0.2 → 篇四～五 → 篇十四 勾 1/3 项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走训练/主仓：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03 篇 1.5 与 1.5.2a/2b、篇三 3.2.5/5a、篇八+八续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走数据：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01 与 因子 登记/PiT 对表 字段；和 04 篇七 时间律 对齐</a:t>
            </a:r>
          </a:p>
        </p:txBody>
      </p:sp>
      <p:pic>
        <p:nvPicPr>
          <p:cNvPr id="6" name="Picture 5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003366"/>
                </a:solidFill>
                <a:latin typeface="Microsoft YaHei"/>
              </a:rPr>
              <a:t>收束三句（可当散场口播）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E2430"/>
                </a:solidFill>
                <a:latin typeface="Microsoft YaHei"/>
              </a:rPr>
              <a:t>多引擎 解决「找得到」，五安检+注册 解决「敢用」；两回事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和 03 说话的前缀永远是：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A/B/C + 行定义；其它都是后话</a:t>
            </a:r>
          </a:p>
          <a:p>
            <a:pPr algn="l">
              <a:spcAft>
                <a:spcPts val="800"/>
              </a:spcAft>
            </a:pPr>
            <a:r>
              <a:rPr b="1" sz="1500">
                <a:solidFill>
                  <a:srgbClr val="003366"/>
                </a:solidFill>
                <a:latin typeface="Microsoft YaHei"/>
              </a:rPr>
              <a:t>今天的作业：</a:t>
            </a:r>
            <a:r>
              <a:rPr sz="1500">
                <a:solidFill>
                  <a:srgbClr val="1E2430"/>
                </a:solidFill>
                <a:latin typeface="Microsoft YaHei"/>
              </a:rPr>
              <a:t>各角色各打开一篇长文 约 10 分钟，把「最卡你的一行」 记在会议纪要</a:t>
            </a:r>
          </a:p>
        </p:txBody>
      </p:sp>
      <p:pic>
        <p:nvPicPr>
          <p:cNvPr id="6" name="Picture 5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48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003366"/>
                </a:solidFill>
                <a:latin typeface="Microsoft YaHei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会后可约小桌：</a:t>
            </a:r>
          </a:p>
          <a:p>
            <a:r>
              <a:rPr sz="1600">
                <a:latin typeface="Microsoft YaHei"/>
              </a:rPr>
              <a:t>· 试验登记 / 锁箱 / 试次 预算 对表</a:t>
            </a:r>
          </a:p>
          <a:p>
            <a:r>
              <a:rPr sz="1600">
                <a:latin typeface="Microsoft YaHei"/>
              </a:rPr>
              <a:t>· OOS 主指标 与 组合层 接口 对表</a:t>
            </a:r>
          </a:p>
          <a:p>
            <a:r>
              <a:rPr sz="1600">
                <a:latin typeface="Microsoft YaHei"/>
              </a:rPr>
              <a:t>· 与本次 deck 对不上的旧流程，走「一次 纠偏会」 不要群里碎片化吵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>
                <a:solidFill>
                  <a:srgbClr val="5A626E"/>
                </a:solidFill>
                <a:latin typeface="Microsoft YaHei"/>
              </a:rPr>
              <a:t>感谢 · 本文件可由 build_internal_alignment_deck.py 重新生成以同步叙事修订。</a:t>
            </a:r>
          </a:p>
        </p:txBody>
      </p:sp>
      <p:pic>
        <p:nvPicPr>
          <p:cNvPr id="6" name="Picture 5" descr="_generated_cobran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4" y="128016"/>
            <a:ext cx="3977639" cy="594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